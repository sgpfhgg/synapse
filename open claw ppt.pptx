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374" r:id="rId2"/>
    <p:sldId id="375" r:id="rId3"/>
    <p:sldId id="257" r:id="rId4"/>
    <p:sldId id="376" r:id="rId5"/>
    <p:sldId id="377" r:id="rId6"/>
    <p:sldId id="378" r:id="rId7"/>
    <p:sldId id="379" r:id="rId8"/>
    <p:sldId id="380" r:id="rId9"/>
    <p:sldId id="38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470F39-CCBE-46BD-AF61-BCAD9618C082}" v="17" dt="2026-05-08T18:53:11.3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91" autoAdjust="0"/>
    <p:restoredTop sz="94660"/>
  </p:normalViewPr>
  <p:slideViewPr>
    <p:cSldViewPr snapToGrid="0">
      <p:cViewPr varScale="1">
        <p:scale>
          <a:sx n="83" d="100"/>
          <a:sy n="83" d="100"/>
        </p:scale>
        <p:origin x="80" y="6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AFF0E-449D-426B-83E6-7E557F3BCD7F}" type="datetimeFigureOut">
              <a:rPr lang="en-IN" smtClean="0"/>
              <a:pPr/>
              <a:t>08-05-2026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2ADFC2-4656-49F6-8F5B-84313FD65219}" type="slidenum">
              <a:rPr lang="en-IN" smtClean="0"/>
              <a:pPr/>
              <a:t>‹#›</a:t>
            </a:fld>
            <a:endParaRPr lang="en-IN"/>
          </a:p>
        </p:txBody>
      </p:sp>
    </p:spTree>
    <p:extLst>
      <p:ext uri="{BB962C8B-B14F-4D97-AF65-F5344CB8AC3E}">
        <p14:creationId xmlns:p14="http://schemas.microsoft.com/office/powerpoint/2010/main" val="29312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2495773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461412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3977886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962712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58213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val="2945130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3708953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64D7-FD5D-4592-B4BA-0A1638C282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322DA6-5CC0-4908-AB19-3BCB77EFC6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FF6F72-5872-4CEB-A8C1-89CFCA54971A}"/>
              </a:ext>
            </a:extLst>
          </p:cNvPr>
          <p:cNvSpPr>
            <a:spLocks noGrp="1"/>
          </p:cNvSpPr>
          <p:nvPr>
            <p:ph type="dt" sz="half" idx="10"/>
          </p:nvPr>
        </p:nvSpPr>
        <p:spPr/>
        <p:txBody>
          <a:bodyPr/>
          <a:lstStyle/>
          <a:p>
            <a:fld id="{6D7F44E2-D9AA-43EA-B93A-EEC6CDC19CD5}" type="datetimeFigureOut">
              <a:rPr lang="en-IN" smtClean="0"/>
              <a:pPr/>
              <a:t>08-05-2026</a:t>
            </a:fld>
            <a:endParaRPr lang="en-IN"/>
          </a:p>
        </p:txBody>
      </p:sp>
      <p:sp>
        <p:nvSpPr>
          <p:cNvPr id="5" name="Footer Placeholder 4">
            <a:extLst>
              <a:ext uri="{FF2B5EF4-FFF2-40B4-BE49-F238E27FC236}">
                <a16:creationId xmlns:a16="http://schemas.microsoft.com/office/drawing/2014/main" id="{0246BC3D-6474-4263-9B99-5E9D155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A2E46B-395F-44BB-A399-301BD8986F47}"/>
              </a:ext>
            </a:extLst>
          </p:cNvPr>
          <p:cNvSpPr>
            <a:spLocks noGrp="1"/>
          </p:cNvSpPr>
          <p:nvPr>
            <p:ph type="sldNum" sz="quarter" idx="12"/>
          </p:nvPr>
        </p:nvSpPr>
        <p:spPr/>
        <p:txBody>
          <a:bodyPr/>
          <a:lstStyle/>
          <a:p>
            <a:fld id="{D4EC16B2-A79F-4EF3-B109-260A8C965ED1}" type="slidenum">
              <a:rPr lang="en-IN" smtClean="0"/>
              <a:pPr/>
              <a:t>‹#›</a:t>
            </a:fld>
            <a:endParaRPr lang="en-IN"/>
          </a:p>
        </p:txBody>
      </p:sp>
    </p:spTree>
    <p:extLst>
      <p:ext uri="{BB962C8B-B14F-4D97-AF65-F5344CB8AC3E}">
        <p14:creationId xmlns:p14="http://schemas.microsoft.com/office/powerpoint/2010/main" val="320325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9695-79A9-4446-91E3-05E7FE7A15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66FC54-E211-48A1-8BCA-378B4D4D3A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25B42F-19A5-4F50-9CDF-42D673EB06AB}"/>
              </a:ext>
            </a:extLst>
          </p:cNvPr>
          <p:cNvSpPr>
            <a:spLocks noGrp="1"/>
          </p:cNvSpPr>
          <p:nvPr>
            <p:ph type="dt" sz="half" idx="10"/>
          </p:nvPr>
        </p:nvSpPr>
        <p:spPr/>
        <p:txBody>
          <a:bodyPr/>
          <a:lstStyle/>
          <a:p>
            <a:fld id="{6D7F44E2-D9AA-43EA-B93A-EEC6CDC19CD5}" type="datetimeFigureOut">
              <a:rPr lang="en-IN" smtClean="0"/>
              <a:pPr/>
              <a:t>08-05-2026</a:t>
            </a:fld>
            <a:endParaRPr lang="en-IN"/>
          </a:p>
        </p:txBody>
      </p:sp>
      <p:sp>
        <p:nvSpPr>
          <p:cNvPr id="5" name="Footer Placeholder 4">
            <a:extLst>
              <a:ext uri="{FF2B5EF4-FFF2-40B4-BE49-F238E27FC236}">
                <a16:creationId xmlns:a16="http://schemas.microsoft.com/office/drawing/2014/main" id="{14AEB133-FF63-4CDE-83A1-44AF473A23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A2E08C-2449-4EE7-85C3-B82B566620C6}"/>
              </a:ext>
            </a:extLst>
          </p:cNvPr>
          <p:cNvSpPr>
            <a:spLocks noGrp="1"/>
          </p:cNvSpPr>
          <p:nvPr>
            <p:ph type="sldNum" sz="quarter" idx="12"/>
          </p:nvPr>
        </p:nvSpPr>
        <p:spPr/>
        <p:txBody>
          <a:bodyPr/>
          <a:lstStyle/>
          <a:p>
            <a:fld id="{D4EC16B2-A79F-4EF3-B109-260A8C965ED1}" type="slidenum">
              <a:rPr lang="en-IN" smtClean="0"/>
              <a:pPr/>
              <a:t>‹#›</a:t>
            </a:fld>
            <a:endParaRPr lang="en-IN"/>
          </a:p>
        </p:txBody>
      </p:sp>
    </p:spTree>
    <p:extLst>
      <p:ext uri="{BB962C8B-B14F-4D97-AF65-F5344CB8AC3E}">
        <p14:creationId xmlns:p14="http://schemas.microsoft.com/office/powerpoint/2010/main" val="1830120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26C4-320A-4799-9AE2-8DDE1CA618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DC3420-268D-4A73-990C-4BA3150862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19061-FA9F-4CD9-8574-300E0E8997C3}"/>
              </a:ext>
            </a:extLst>
          </p:cNvPr>
          <p:cNvSpPr>
            <a:spLocks noGrp="1"/>
          </p:cNvSpPr>
          <p:nvPr>
            <p:ph type="dt" sz="half" idx="10"/>
          </p:nvPr>
        </p:nvSpPr>
        <p:spPr/>
        <p:txBody>
          <a:bodyPr/>
          <a:lstStyle/>
          <a:p>
            <a:fld id="{6D7F44E2-D9AA-43EA-B93A-EEC6CDC19CD5}" type="datetimeFigureOut">
              <a:rPr lang="en-IN" smtClean="0"/>
              <a:pPr/>
              <a:t>08-05-2026</a:t>
            </a:fld>
            <a:endParaRPr lang="en-IN"/>
          </a:p>
        </p:txBody>
      </p:sp>
      <p:sp>
        <p:nvSpPr>
          <p:cNvPr id="5" name="Footer Placeholder 4">
            <a:extLst>
              <a:ext uri="{FF2B5EF4-FFF2-40B4-BE49-F238E27FC236}">
                <a16:creationId xmlns:a16="http://schemas.microsoft.com/office/drawing/2014/main" id="{86C8B69E-7D13-401E-BA52-560698F833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F2BDD-5AC8-4AE3-8868-F8CC1DA764F0}"/>
              </a:ext>
            </a:extLst>
          </p:cNvPr>
          <p:cNvSpPr>
            <a:spLocks noGrp="1"/>
          </p:cNvSpPr>
          <p:nvPr>
            <p:ph type="sldNum" sz="quarter" idx="12"/>
          </p:nvPr>
        </p:nvSpPr>
        <p:spPr/>
        <p:txBody>
          <a:bodyPr/>
          <a:lstStyle/>
          <a:p>
            <a:fld id="{D4EC16B2-A79F-4EF3-B109-260A8C965ED1}" type="slidenum">
              <a:rPr lang="en-IN" smtClean="0"/>
              <a:pPr/>
              <a:t>‹#›</a:t>
            </a:fld>
            <a:endParaRPr lang="en-IN"/>
          </a:p>
        </p:txBody>
      </p:sp>
    </p:spTree>
    <p:extLst>
      <p:ext uri="{BB962C8B-B14F-4D97-AF65-F5344CB8AC3E}">
        <p14:creationId xmlns:p14="http://schemas.microsoft.com/office/powerpoint/2010/main" val="382869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19AC-BA64-4335-BA9B-DF3911CCE5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78DA36-87D1-4E4A-8D55-031DDA3086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5276BB-4B19-4B31-A15F-D171E88D88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E846C6-E4EC-417D-8F33-F85084C30AED}"/>
              </a:ext>
            </a:extLst>
          </p:cNvPr>
          <p:cNvSpPr>
            <a:spLocks noGrp="1"/>
          </p:cNvSpPr>
          <p:nvPr>
            <p:ph type="dt" sz="half" idx="10"/>
          </p:nvPr>
        </p:nvSpPr>
        <p:spPr/>
        <p:txBody>
          <a:bodyPr/>
          <a:lstStyle/>
          <a:p>
            <a:fld id="{6D7F44E2-D9AA-43EA-B93A-EEC6CDC19CD5}" type="datetimeFigureOut">
              <a:rPr lang="en-IN" smtClean="0"/>
              <a:pPr/>
              <a:t>08-05-2026</a:t>
            </a:fld>
            <a:endParaRPr lang="en-IN"/>
          </a:p>
        </p:txBody>
      </p:sp>
      <p:sp>
        <p:nvSpPr>
          <p:cNvPr id="6" name="Footer Placeholder 5">
            <a:extLst>
              <a:ext uri="{FF2B5EF4-FFF2-40B4-BE49-F238E27FC236}">
                <a16:creationId xmlns:a16="http://schemas.microsoft.com/office/drawing/2014/main" id="{4EC9D499-DC6A-4178-AFA3-2E2D44FD32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E19571-DCCE-45D8-8783-EA6DC03D8E0C}"/>
              </a:ext>
            </a:extLst>
          </p:cNvPr>
          <p:cNvSpPr>
            <a:spLocks noGrp="1"/>
          </p:cNvSpPr>
          <p:nvPr>
            <p:ph type="sldNum" sz="quarter" idx="12"/>
          </p:nvPr>
        </p:nvSpPr>
        <p:spPr/>
        <p:txBody>
          <a:bodyPr/>
          <a:lstStyle/>
          <a:p>
            <a:fld id="{D4EC16B2-A79F-4EF3-B109-260A8C965ED1}" type="slidenum">
              <a:rPr lang="en-IN" smtClean="0"/>
              <a:pPr/>
              <a:t>‹#›</a:t>
            </a:fld>
            <a:endParaRPr lang="en-IN"/>
          </a:p>
        </p:txBody>
      </p:sp>
    </p:spTree>
    <p:extLst>
      <p:ext uri="{BB962C8B-B14F-4D97-AF65-F5344CB8AC3E}">
        <p14:creationId xmlns:p14="http://schemas.microsoft.com/office/powerpoint/2010/main" val="2571939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8171-0F87-491D-955D-347FAE8D06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23EC69-5405-4A73-84BD-F54C9837DB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A1D5BF-B1AE-44F7-BF58-8E4B057CDD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7E8175-A0D7-4248-A114-5AC9DF511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338F68-9ACA-4AC9-B3EC-D38E662B2A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F9F48F-32B7-4E62-920E-426CD4A43E9D}"/>
              </a:ext>
            </a:extLst>
          </p:cNvPr>
          <p:cNvSpPr>
            <a:spLocks noGrp="1"/>
          </p:cNvSpPr>
          <p:nvPr>
            <p:ph type="dt" sz="half" idx="10"/>
          </p:nvPr>
        </p:nvSpPr>
        <p:spPr/>
        <p:txBody>
          <a:bodyPr/>
          <a:lstStyle/>
          <a:p>
            <a:fld id="{6D7F44E2-D9AA-43EA-B93A-EEC6CDC19CD5}" type="datetimeFigureOut">
              <a:rPr lang="en-IN" smtClean="0"/>
              <a:pPr/>
              <a:t>08-05-2026</a:t>
            </a:fld>
            <a:endParaRPr lang="en-IN"/>
          </a:p>
        </p:txBody>
      </p:sp>
      <p:sp>
        <p:nvSpPr>
          <p:cNvPr id="8" name="Footer Placeholder 7">
            <a:extLst>
              <a:ext uri="{FF2B5EF4-FFF2-40B4-BE49-F238E27FC236}">
                <a16:creationId xmlns:a16="http://schemas.microsoft.com/office/drawing/2014/main" id="{6F7049EB-BDFC-47EA-9692-76B7389433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F573FA-F1A3-4137-8DF6-8477A299DA37}"/>
              </a:ext>
            </a:extLst>
          </p:cNvPr>
          <p:cNvSpPr>
            <a:spLocks noGrp="1"/>
          </p:cNvSpPr>
          <p:nvPr>
            <p:ph type="sldNum" sz="quarter" idx="12"/>
          </p:nvPr>
        </p:nvSpPr>
        <p:spPr/>
        <p:txBody>
          <a:bodyPr/>
          <a:lstStyle/>
          <a:p>
            <a:fld id="{D4EC16B2-A79F-4EF3-B109-260A8C965ED1}" type="slidenum">
              <a:rPr lang="en-IN" smtClean="0"/>
              <a:pPr/>
              <a:t>‹#›</a:t>
            </a:fld>
            <a:endParaRPr lang="en-IN"/>
          </a:p>
        </p:txBody>
      </p:sp>
    </p:spTree>
    <p:extLst>
      <p:ext uri="{BB962C8B-B14F-4D97-AF65-F5344CB8AC3E}">
        <p14:creationId xmlns:p14="http://schemas.microsoft.com/office/powerpoint/2010/main" val="3476541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C694-79DB-4363-B1A5-15A50E69FF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4B602A-C477-4739-9033-AA90AEB955B9}"/>
              </a:ext>
            </a:extLst>
          </p:cNvPr>
          <p:cNvSpPr>
            <a:spLocks noGrp="1"/>
          </p:cNvSpPr>
          <p:nvPr>
            <p:ph type="dt" sz="half" idx="10"/>
          </p:nvPr>
        </p:nvSpPr>
        <p:spPr/>
        <p:txBody>
          <a:bodyPr/>
          <a:lstStyle/>
          <a:p>
            <a:fld id="{6D7F44E2-D9AA-43EA-B93A-EEC6CDC19CD5}" type="datetimeFigureOut">
              <a:rPr lang="en-IN" smtClean="0"/>
              <a:pPr/>
              <a:t>08-05-2026</a:t>
            </a:fld>
            <a:endParaRPr lang="en-IN"/>
          </a:p>
        </p:txBody>
      </p:sp>
      <p:sp>
        <p:nvSpPr>
          <p:cNvPr id="4" name="Footer Placeholder 3">
            <a:extLst>
              <a:ext uri="{FF2B5EF4-FFF2-40B4-BE49-F238E27FC236}">
                <a16:creationId xmlns:a16="http://schemas.microsoft.com/office/drawing/2014/main" id="{1BE378F1-E22C-4E55-9DDB-BB46A0C14B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5B7E4F-F4BD-47E4-8AF4-FE65D6600CE7}"/>
              </a:ext>
            </a:extLst>
          </p:cNvPr>
          <p:cNvSpPr>
            <a:spLocks noGrp="1"/>
          </p:cNvSpPr>
          <p:nvPr>
            <p:ph type="sldNum" sz="quarter" idx="12"/>
          </p:nvPr>
        </p:nvSpPr>
        <p:spPr/>
        <p:txBody>
          <a:bodyPr/>
          <a:lstStyle/>
          <a:p>
            <a:fld id="{D4EC16B2-A79F-4EF3-B109-260A8C965ED1}" type="slidenum">
              <a:rPr lang="en-IN" smtClean="0"/>
              <a:pPr/>
              <a:t>‹#›</a:t>
            </a:fld>
            <a:endParaRPr lang="en-IN"/>
          </a:p>
        </p:txBody>
      </p:sp>
    </p:spTree>
    <p:extLst>
      <p:ext uri="{BB962C8B-B14F-4D97-AF65-F5344CB8AC3E}">
        <p14:creationId xmlns:p14="http://schemas.microsoft.com/office/powerpoint/2010/main" val="387368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80C5E-189E-4B16-8B64-6164F629D5E9}"/>
              </a:ext>
            </a:extLst>
          </p:cNvPr>
          <p:cNvSpPr>
            <a:spLocks noGrp="1"/>
          </p:cNvSpPr>
          <p:nvPr>
            <p:ph type="dt" sz="half" idx="10"/>
          </p:nvPr>
        </p:nvSpPr>
        <p:spPr/>
        <p:txBody>
          <a:bodyPr/>
          <a:lstStyle/>
          <a:p>
            <a:fld id="{6D7F44E2-D9AA-43EA-B93A-EEC6CDC19CD5}" type="datetimeFigureOut">
              <a:rPr lang="en-IN" smtClean="0"/>
              <a:pPr/>
              <a:t>08-05-2026</a:t>
            </a:fld>
            <a:endParaRPr lang="en-IN"/>
          </a:p>
        </p:txBody>
      </p:sp>
      <p:sp>
        <p:nvSpPr>
          <p:cNvPr id="3" name="Footer Placeholder 2">
            <a:extLst>
              <a:ext uri="{FF2B5EF4-FFF2-40B4-BE49-F238E27FC236}">
                <a16:creationId xmlns:a16="http://schemas.microsoft.com/office/drawing/2014/main" id="{56B3E471-C627-4A6F-8940-20A4EE7AC0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F3B9AE-03BF-4E26-AF08-84460AF45A0D}"/>
              </a:ext>
            </a:extLst>
          </p:cNvPr>
          <p:cNvSpPr>
            <a:spLocks noGrp="1"/>
          </p:cNvSpPr>
          <p:nvPr>
            <p:ph type="sldNum" sz="quarter" idx="12"/>
          </p:nvPr>
        </p:nvSpPr>
        <p:spPr/>
        <p:txBody>
          <a:bodyPr/>
          <a:lstStyle/>
          <a:p>
            <a:fld id="{D4EC16B2-A79F-4EF3-B109-260A8C965ED1}" type="slidenum">
              <a:rPr lang="en-IN" smtClean="0"/>
              <a:pPr/>
              <a:t>‹#›</a:t>
            </a:fld>
            <a:endParaRPr lang="en-IN"/>
          </a:p>
        </p:txBody>
      </p:sp>
    </p:spTree>
    <p:extLst>
      <p:ext uri="{BB962C8B-B14F-4D97-AF65-F5344CB8AC3E}">
        <p14:creationId xmlns:p14="http://schemas.microsoft.com/office/powerpoint/2010/main" val="2407498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5660-5922-4086-9079-F98C845BCC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8CA404-6545-4C37-A301-16A160A007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D04D32-44ED-4022-9B36-1EE734ED65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38BFFD-8B76-47E2-B9FB-5194F010139E}"/>
              </a:ext>
            </a:extLst>
          </p:cNvPr>
          <p:cNvSpPr>
            <a:spLocks noGrp="1"/>
          </p:cNvSpPr>
          <p:nvPr>
            <p:ph type="dt" sz="half" idx="10"/>
          </p:nvPr>
        </p:nvSpPr>
        <p:spPr/>
        <p:txBody>
          <a:bodyPr/>
          <a:lstStyle/>
          <a:p>
            <a:fld id="{6D7F44E2-D9AA-43EA-B93A-EEC6CDC19CD5}" type="datetimeFigureOut">
              <a:rPr lang="en-IN" smtClean="0"/>
              <a:pPr/>
              <a:t>08-05-2026</a:t>
            </a:fld>
            <a:endParaRPr lang="en-IN"/>
          </a:p>
        </p:txBody>
      </p:sp>
      <p:sp>
        <p:nvSpPr>
          <p:cNvPr id="6" name="Footer Placeholder 5">
            <a:extLst>
              <a:ext uri="{FF2B5EF4-FFF2-40B4-BE49-F238E27FC236}">
                <a16:creationId xmlns:a16="http://schemas.microsoft.com/office/drawing/2014/main" id="{CED40FA1-8D0A-4E4C-9953-054729FB87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A9A4A1-B2D3-4598-9C16-19E3F974E0DC}"/>
              </a:ext>
            </a:extLst>
          </p:cNvPr>
          <p:cNvSpPr>
            <a:spLocks noGrp="1"/>
          </p:cNvSpPr>
          <p:nvPr>
            <p:ph type="sldNum" sz="quarter" idx="12"/>
          </p:nvPr>
        </p:nvSpPr>
        <p:spPr/>
        <p:txBody>
          <a:bodyPr/>
          <a:lstStyle/>
          <a:p>
            <a:fld id="{D4EC16B2-A79F-4EF3-B109-260A8C965ED1}" type="slidenum">
              <a:rPr lang="en-IN" smtClean="0"/>
              <a:pPr/>
              <a:t>‹#›</a:t>
            </a:fld>
            <a:endParaRPr lang="en-IN"/>
          </a:p>
        </p:txBody>
      </p:sp>
    </p:spTree>
    <p:extLst>
      <p:ext uri="{BB962C8B-B14F-4D97-AF65-F5344CB8AC3E}">
        <p14:creationId xmlns:p14="http://schemas.microsoft.com/office/powerpoint/2010/main" val="90353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357B-DBC0-436F-82C9-9BE7A6D463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CAA78A-18AB-4BC5-BEFE-4D14122FCE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76BB34-FC6B-48B7-88A4-726F54735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AB742C-BF4E-4140-8947-871247A3354F}"/>
              </a:ext>
            </a:extLst>
          </p:cNvPr>
          <p:cNvSpPr>
            <a:spLocks noGrp="1"/>
          </p:cNvSpPr>
          <p:nvPr>
            <p:ph type="dt" sz="half" idx="10"/>
          </p:nvPr>
        </p:nvSpPr>
        <p:spPr/>
        <p:txBody>
          <a:bodyPr/>
          <a:lstStyle/>
          <a:p>
            <a:fld id="{6D7F44E2-D9AA-43EA-B93A-EEC6CDC19CD5}" type="datetimeFigureOut">
              <a:rPr lang="en-IN" smtClean="0"/>
              <a:pPr/>
              <a:t>08-05-2026</a:t>
            </a:fld>
            <a:endParaRPr lang="en-IN"/>
          </a:p>
        </p:txBody>
      </p:sp>
      <p:sp>
        <p:nvSpPr>
          <p:cNvPr id="6" name="Footer Placeholder 5">
            <a:extLst>
              <a:ext uri="{FF2B5EF4-FFF2-40B4-BE49-F238E27FC236}">
                <a16:creationId xmlns:a16="http://schemas.microsoft.com/office/drawing/2014/main" id="{C521326A-4386-47BF-8036-878141A473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85A690-66C4-49A2-AFF2-86E9646D827A}"/>
              </a:ext>
            </a:extLst>
          </p:cNvPr>
          <p:cNvSpPr>
            <a:spLocks noGrp="1"/>
          </p:cNvSpPr>
          <p:nvPr>
            <p:ph type="sldNum" sz="quarter" idx="12"/>
          </p:nvPr>
        </p:nvSpPr>
        <p:spPr/>
        <p:txBody>
          <a:bodyPr/>
          <a:lstStyle/>
          <a:p>
            <a:fld id="{D4EC16B2-A79F-4EF3-B109-260A8C965ED1}" type="slidenum">
              <a:rPr lang="en-IN" smtClean="0"/>
              <a:pPr/>
              <a:t>‹#›</a:t>
            </a:fld>
            <a:endParaRPr lang="en-IN"/>
          </a:p>
        </p:txBody>
      </p:sp>
    </p:spTree>
    <p:extLst>
      <p:ext uri="{BB962C8B-B14F-4D97-AF65-F5344CB8AC3E}">
        <p14:creationId xmlns:p14="http://schemas.microsoft.com/office/powerpoint/2010/main" val="2872603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D690-141F-4B82-AAA6-311E8BB6E8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5DCD3E-D233-4229-9571-4585EFE523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12A0F7-FDB1-43FF-A571-32B80EE1015F}"/>
              </a:ext>
            </a:extLst>
          </p:cNvPr>
          <p:cNvSpPr>
            <a:spLocks noGrp="1"/>
          </p:cNvSpPr>
          <p:nvPr>
            <p:ph type="dt" sz="half" idx="10"/>
          </p:nvPr>
        </p:nvSpPr>
        <p:spPr/>
        <p:txBody>
          <a:bodyPr/>
          <a:lstStyle/>
          <a:p>
            <a:fld id="{6D7F44E2-D9AA-43EA-B93A-EEC6CDC19CD5}" type="datetimeFigureOut">
              <a:rPr lang="en-IN" smtClean="0"/>
              <a:pPr/>
              <a:t>08-05-2026</a:t>
            </a:fld>
            <a:endParaRPr lang="en-IN"/>
          </a:p>
        </p:txBody>
      </p:sp>
      <p:sp>
        <p:nvSpPr>
          <p:cNvPr id="5" name="Footer Placeholder 4">
            <a:extLst>
              <a:ext uri="{FF2B5EF4-FFF2-40B4-BE49-F238E27FC236}">
                <a16:creationId xmlns:a16="http://schemas.microsoft.com/office/drawing/2014/main" id="{A64B04E9-3520-49DA-836F-CFFB881FB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EC8C8B-43E3-4E78-9BFA-28431143D919}"/>
              </a:ext>
            </a:extLst>
          </p:cNvPr>
          <p:cNvSpPr>
            <a:spLocks noGrp="1"/>
          </p:cNvSpPr>
          <p:nvPr>
            <p:ph type="sldNum" sz="quarter" idx="12"/>
          </p:nvPr>
        </p:nvSpPr>
        <p:spPr/>
        <p:txBody>
          <a:bodyPr/>
          <a:lstStyle/>
          <a:p>
            <a:fld id="{D4EC16B2-A79F-4EF3-B109-260A8C965ED1}" type="slidenum">
              <a:rPr lang="en-IN" smtClean="0"/>
              <a:pPr/>
              <a:t>‹#›</a:t>
            </a:fld>
            <a:endParaRPr lang="en-IN"/>
          </a:p>
        </p:txBody>
      </p:sp>
    </p:spTree>
    <p:extLst>
      <p:ext uri="{BB962C8B-B14F-4D97-AF65-F5344CB8AC3E}">
        <p14:creationId xmlns:p14="http://schemas.microsoft.com/office/powerpoint/2010/main" val="2194527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6DD375-6C7A-403C-8B36-D5D3CFCF0E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F1880-F132-48C9-9D79-CA50684340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EB219E-CEFA-45B4-9588-67FAD5B86FBB}"/>
              </a:ext>
            </a:extLst>
          </p:cNvPr>
          <p:cNvSpPr>
            <a:spLocks noGrp="1"/>
          </p:cNvSpPr>
          <p:nvPr>
            <p:ph type="dt" sz="half" idx="10"/>
          </p:nvPr>
        </p:nvSpPr>
        <p:spPr/>
        <p:txBody>
          <a:bodyPr/>
          <a:lstStyle/>
          <a:p>
            <a:fld id="{6D7F44E2-D9AA-43EA-B93A-EEC6CDC19CD5}" type="datetimeFigureOut">
              <a:rPr lang="en-IN" smtClean="0"/>
              <a:pPr/>
              <a:t>08-05-2026</a:t>
            </a:fld>
            <a:endParaRPr lang="en-IN"/>
          </a:p>
        </p:txBody>
      </p:sp>
      <p:sp>
        <p:nvSpPr>
          <p:cNvPr id="5" name="Footer Placeholder 4">
            <a:extLst>
              <a:ext uri="{FF2B5EF4-FFF2-40B4-BE49-F238E27FC236}">
                <a16:creationId xmlns:a16="http://schemas.microsoft.com/office/drawing/2014/main" id="{CA014DA2-B751-43ED-834C-17F142F9ED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2DBFD0-8FFE-4F10-9A8D-DC32F229459D}"/>
              </a:ext>
            </a:extLst>
          </p:cNvPr>
          <p:cNvSpPr>
            <a:spLocks noGrp="1"/>
          </p:cNvSpPr>
          <p:nvPr>
            <p:ph type="sldNum" sz="quarter" idx="12"/>
          </p:nvPr>
        </p:nvSpPr>
        <p:spPr/>
        <p:txBody>
          <a:bodyPr/>
          <a:lstStyle/>
          <a:p>
            <a:fld id="{D4EC16B2-A79F-4EF3-B109-260A8C965ED1}" type="slidenum">
              <a:rPr lang="en-IN" smtClean="0"/>
              <a:pPr/>
              <a:t>‹#›</a:t>
            </a:fld>
            <a:endParaRPr lang="en-IN"/>
          </a:p>
        </p:txBody>
      </p:sp>
    </p:spTree>
    <p:extLst>
      <p:ext uri="{BB962C8B-B14F-4D97-AF65-F5344CB8AC3E}">
        <p14:creationId xmlns:p14="http://schemas.microsoft.com/office/powerpoint/2010/main" val="3867288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054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D61A3F-7420-4211-A9AF-443ACDC04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A53A93-B55A-4668-86F8-9483DF49D6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E196E0-46F1-4FF9-A486-7116F5016B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F44E2-D9AA-43EA-B93A-EEC6CDC19CD5}" type="datetimeFigureOut">
              <a:rPr lang="en-IN" smtClean="0"/>
              <a:pPr/>
              <a:t>08-05-2026</a:t>
            </a:fld>
            <a:endParaRPr lang="en-IN"/>
          </a:p>
        </p:txBody>
      </p:sp>
      <p:sp>
        <p:nvSpPr>
          <p:cNvPr id="5" name="Footer Placeholder 4">
            <a:extLst>
              <a:ext uri="{FF2B5EF4-FFF2-40B4-BE49-F238E27FC236}">
                <a16:creationId xmlns:a16="http://schemas.microsoft.com/office/drawing/2014/main" id="{FB0E07B5-C98B-47C4-829C-B640A6AEE9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113DEB-9452-48C6-802D-EC521E6023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C16B2-A79F-4EF3-B109-260A8C965ED1}" type="slidenum">
              <a:rPr lang="en-IN" smtClean="0"/>
              <a:pPr/>
              <a:t>‹#›</a:t>
            </a:fld>
            <a:endParaRPr lang="en-IN"/>
          </a:p>
        </p:txBody>
      </p:sp>
    </p:spTree>
    <p:extLst>
      <p:ext uri="{BB962C8B-B14F-4D97-AF65-F5344CB8AC3E}">
        <p14:creationId xmlns:p14="http://schemas.microsoft.com/office/powerpoint/2010/main" val="1575818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openclaw/openclaw"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gpfhgg/Synapse"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hyperlink" Target="https://www.youtube.com/watch?v=ZD-X9JaGYr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Picture 98">
            <a:extLst>
              <a:ext uri="{FF2B5EF4-FFF2-40B4-BE49-F238E27FC236}">
                <a16:creationId xmlns:a16="http://schemas.microsoft.com/office/drawing/2014/main" id="{AA78BBCF-2634-4089-8492-D8569E905F67}"/>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10000" b="90000" l="10000" r="90000"/>
                    </a14:imgEffect>
                  </a14:imgLayer>
                </a14:imgProps>
              </a:ext>
            </a:extLst>
          </a:blip>
          <a:srcRect l="35216" t="9860" r="35722" b="40504"/>
          <a:stretch/>
        </p:blipFill>
        <p:spPr>
          <a:xfrm>
            <a:off x="7372538" y="1619794"/>
            <a:ext cx="4421349" cy="5638238"/>
          </a:xfrm>
          <a:prstGeom prst="rect">
            <a:avLst/>
          </a:prstGeom>
        </p:spPr>
      </p:pic>
      <p:sp>
        <p:nvSpPr>
          <p:cNvPr id="75" name="TextBox 74">
            <a:extLst>
              <a:ext uri="{FF2B5EF4-FFF2-40B4-BE49-F238E27FC236}">
                <a16:creationId xmlns:a16="http://schemas.microsoft.com/office/drawing/2014/main" id="{966C81A6-8FBD-44BD-9DF5-A762864663F9}"/>
              </a:ext>
            </a:extLst>
          </p:cNvPr>
          <p:cNvSpPr txBox="1"/>
          <p:nvPr/>
        </p:nvSpPr>
        <p:spPr>
          <a:xfrm>
            <a:off x="0" y="604461"/>
            <a:ext cx="2182586" cy="400110"/>
          </a:xfrm>
          <a:prstGeom prst="rect">
            <a:avLst/>
          </a:prstGeom>
          <a:noFill/>
        </p:spPr>
        <p:txBody>
          <a:bodyPr wrap="square">
            <a:spAutoFit/>
          </a:bodyPr>
          <a:lstStyle/>
          <a:p>
            <a:pPr algn="ctr"/>
            <a:r>
              <a:rPr lang="en-US" sz="2000" b="1" dirty="0">
                <a:latin typeface="Berlin Sans FB Demi" panose="020E0802020502020306" pitchFamily="34" charset="0"/>
                <a:ea typeface="SamsungOne 800" panose="020B0903030303020204" pitchFamily="34" charset="0"/>
              </a:rPr>
              <a:t>CLASH OF THE</a:t>
            </a:r>
            <a:endParaRPr lang="en-US" sz="2000" b="1" dirty="0">
              <a:solidFill>
                <a:srgbClr val="E81B25"/>
              </a:solidFill>
              <a:latin typeface="Berlin Sans FB Demi" panose="020E0802020502020306" pitchFamily="34" charset="0"/>
              <a:ea typeface="SamsungOne 800" panose="020B0903030303020204" pitchFamily="34" charset="0"/>
            </a:endParaRPr>
          </a:p>
        </p:txBody>
      </p:sp>
      <p:sp>
        <p:nvSpPr>
          <p:cNvPr id="93" name="TextBox 92">
            <a:extLst>
              <a:ext uri="{FF2B5EF4-FFF2-40B4-BE49-F238E27FC236}">
                <a16:creationId xmlns:a16="http://schemas.microsoft.com/office/drawing/2014/main" id="{52DB02A4-569F-4135-9840-A60286D3E03F}"/>
              </a:ext>
            </a:extLst>
          </p:cNvPr>
          <p:cNvSpPr txBox="1"/>
          <p:nvPr/>
        </p:nvSpPr>
        <p:spPr>
          <a:xfrm>
            <a:off x="1756232" y="436120"/>
            <a:ext cx="2091163" cy="646331"/>
          </a:xfrm>
          <a:prstGeom prst="rect">
            <a:avLst/>
          </a:prstGeom>
          <a:noFill/>
        </p:spPr>
        <p:txBody>
          <a:bodyPr wrap="square">
            <a:spAutoFit/>
          </a:bodyPr>
          <a:lstStyle/>
          <a:p>
            <a:pPr algn="ctr"/>
            <a:r>
              <a:rPr lang="en-US" sz="3600" b="1" dirty="0">
                <a:solidFill>
                  <a:srgbClr val="E81B25"/>
                </a:solidFill>
                <a:latin typeface="Berlin Sans FB Demi" panose="020E0802020502020306" pitchFamily="34" charset="0"/>
                <a:ea typeface="SamsungOne 800" panose="020B0903030303020204" pitchFamily="34" charset="0"/>
              </a:rPr>
              <a:t>CLAWS</a:t>
            </a:r>
            <a:endParaRPr lang="en-IN" sz="3600" dirty="0">
              <a:latin typeface="Berlin Sans FB Demi" panose="020E0802020502020306" pitchFamily="34" charset="0"/>
            </a:endParaRPr>
          </a:p>
        </p:txBody>
      </p:sp>
      <p:sp>
        <p:nvSpPr>
          <p:cNvPr id="100" name="TextBox 99">
            <a:extLst>
              <a:ext uri="{FF2B5EF4-FFF2-40B4-BE49-F238E27FC236}">
                <a16:creationId xmlns:a16="http://schemas.microsoft.com/office/drawing/2014/main" id="{DD060EA0-A6D1-484F-8987-38123CE63233}"/>
              </a:ext>
            </a:extLst>
          </p:cNvPr>
          <p:cNvSpPr txBox="1"/>
          <p:nvPr/>
        </p:nvSpPr>
        <p:spPr>
          <a:xfrm>
            <a:off x="589834" y="1761235"/>
            <a:ext cx="5132436" cy="5632311"/>
          </a:xfrm>
          <a:prstGeom prst="rect">
            <a:avLst/>
          </a:prstGeom>
          <a:noFill/>
        </p:spPr>
        <p:txBody>
          <a:bodyPr wrap="square">
            <a:spAutoFit/>
          </a:bodyPr>
          <a:lstStyle/>
          <a:p>
            <a:pPr algn="ctr"/>
            <a:r>
              <a:rPr lang="en-US" sz="3200" b="1" dirty="0">
                <a:solidFill>
                  <a:srgbClr val="E81B25"/>
                </a:solidFill>
                <a:latin typeface="Berlin Sans FB Demi" panose="020E0802020502020306" pitchFamily="34" charset="0"/>
                <a:ea typeface="SamsungOne 800" panose="020B0903030303020204" pitchFamily="34" charset="0"/>
              </a:rPr>
              <a:t>RV COLLEGE OF ENGINEERING</a:t>
            </a:r>
          </a:p>
          <a:p>
            <a:pPr algn="ctr"/>
            <a:endParaRPr lang="en-US" sz="4000" b="1" dirty="0">
              <a:solidFill>
                <a:srgbClr val="E81B25"/>
              </a:solidFill>
              <a:latin typeface="Berlin Sans FB Demi" panose="020E0802020502020306" pitchFamily="34" charset="0"/>
              <a:ea typeface="SamsungOne 800" panose="020B0903030303020204" pitchFamily="34" charset="0"/>
            </a:endParaRPr>
          </a:p>
          <a:p>
            <a:pPr algn="ctr"/>
            <a:r>
              <a:rPr lang="en-US" sz="4000" b="1" dirty="0" err="1">
                <a:solidFill>
                  <a:srgbClr val="E81B25"/>
                </a:solidFill>
                <a:latin typeface="Berlin Sans FB Demi" panose="020E0802020502020306" pitchFamily="34" charset="0"/>
                <a:ea typeface="SamsungOne 800" panose="020B0903030303020204" pitchFamily="34" charset="0"/>
              </a:rPr>
              <a:t>Collab</a:t>
            </a:r>
            <a:r>
              <a:rPr lang="en-US" sz="4000" b="1" dirty="0">
                <a:solidFill>
                  <a:srgbClr val="E81B25"/>
                </a:solidFill>
                <a:latin typeface="Berlin Sans FB Demi" panose="020E0802020502020306" pitchFamily="34" charset="0"/>
                <a:ea typeface="SamsungOne 800" panose="020B0903030303020204" pitchFamily="34" charset="0"/>
              </a:rPr>
              <a:t> Mesh</a:t>
            </a:r>
          </a:p>
          <a:p>
            <a:pPr algn="ctr"/>
            <a:r>
              <a:rPr lang="en-US" sz="2800" b="1" dirty="0">
                <a:solidFill>
                  <a:srgbClr val="E81B25"/>
                </a:solidFill>
                <a:latin typeface="Berlin Sans FB Demi" panose="020E0802020502020306" pitchFamily="34" charset="0"/>
                <a:ea typeface="SamsungOne 800" panose="020B0903030303020204" pitchFamily="34" charset="0"/>
              </a:rPr>
              <a:t>Your entire team, Orchestrated by intelligence</a:t>
            </a:r>
          </a:p>
          <a:p>
            <a:pPr algn="ctr"/>
            <a:endParaRPr lang="en-US" sz="4000" b="1" dirty="0">
              <a:solidFill>
                <a:srgbClr val="E81B25"/>
              </a:solidFill>
              <a:latin typeface="Berlin Sans FB Demi" panose="020E0802020502020306" pitchFamily="34" charset="0"/>
              <a:ea typeface="SamsungOne 800" panose="020B0903030303020204" pitchFamily="34" charset="0"/>
            </a:endParaRPr>
          </a:p>
          <a:p>
            <a:pPr algn="ctr"/>
            <a:r>
              <a:rPr lang="en-US" sz="4000" b="1" dirty="0">
                <a:solidFill>
                  <a:schemeClr val="tx2"/>
                </a:solidFill>
                <a:latin typeface="Berlin Sans FB Demi" panose="020E0802020502020306" pitchFamily="34" charset="0"/>
                <a:ea typeface="SamsungOne 800" panose="020B0903030303020204" pitchFamily="34" charset="0"/>
              </a:rPr>
              <a:t>-</a:t>
            </a:r>
            <a:r>
              <a:rPr lang="en-US" sz="3200" b="1" dirty="0" err="1">
                <a:solidFill>
                  <a:schemeClr val="tx2"/>
                </a:solidFill>
                <a:latin typeface="Berlin Sans FB Demi" panose="020E0802020502020306" pitchFamily="34" charset="0"/>
                <a:ea typeface="SamsungOne 800" panose="020B0903030303020204" pitchFamily="34" charset="0"/>
              </a:rPr>
              <a:t>Priyanshi</a:t>
            </a:r>
            <a:r>
              <a:rPr lang="en-US" sz="3200" b="1" dirty="0">
                <a:solidFill>
                  <a:schemeClr val="tx2"/>
                </a:solidFill>
                <a:latin typeface="Berlin Sans FB Demi" panose="020E0802020502020306" pitchFamily="34" charset="0"/>
                <a:ea typeface="SamsungOne 800" panose="020B0903030303020204" pitchFamily="34" charset="0"/>
              </a:rPr>
              <a:t> </a:t>
            </a:r>
            <a:r>
              <a:rPr lang="en-US" sz="3200" b="1" dirty="0" err="1">
                <a:solidFill>
                  <a:schemeClr val="tx2"/>
                </a:solidFill>
                <a:latin typeface="Berlin Sans FB Demi" panose="020E0802020502020306" pitchFamily="34" charset="0"/>
                <a:ea typeface="SamsungOne 800" panose="020B0903030303020204" pitchFamily="34" charset="0"/>
              </a:rPr>
              <a:t>chouhan</a:t>
            </a:r>
            <a:r>
              <a:rPr lang="en-US" sz="3200" b="1" dirty="0">
                <a:solidFill>
                  <a:schemeClr val="tx2"/>
                </a:solidFill>
                <a:latin typeface="Berlin Sans FB Demi" panose="020E0802020502020306" pitchFamily="34" charset="0"/>
                <a:ea typeface="SamsungOne 800" panose="020B0903030303020204" pitchFamily="34" charset="0"/>
              </a:rPr>
              <a:t> &amp;</a:t>
            </a:r>
          </a:p>
          <a:p>
            <a:pPr algn="ctr"/>
            <a:r>
              <a:rPr lang="en-US" sz="3200" b="1" dirty="0" err="1">
                <a:solidFill>
                  <a:schemeClr val="tx2"/>
                </a:solidFill>
                <a:latin typeface="Berlin Sans FB Demi" panose="020E0802020502020306" pitchFamily="34" charset="0"/>
                <a:ea typeface="SamsungOne 800" panose="020B0903030303020204" pitchFamily="34" charset="0"/>
              </a:rPr>
              <a:t>Sai</a:t>
            </a:r>
            <a:r>
              <a:rPr lang="en-US" sz="3200" b="1" dirty="0">
                <a:solidFill>
                  <a:schemeClr val="tx2"/>
                </a:solidFill>
                <a:latin typeface="Berlin Sans FB Demi" panose="020E0802020502020306" pitchFamily="34" charset="0"/>
                <a:ea typeface="SamsungOne 800" panose="020B0903030303020204" pitchFamily="34" charset="0"/>
              </a:rPr>
              <a:t> </a:t>
            </a:r>
            <a:r>
              <a:rPr lang="en-US" sz="3200" b="1" dirty="0" err="1">
                <a:solidFill>
                  <a:schemeClr val="tx2"/>
                </a:solidFill>
                <a:latin typeface="Berlin Sans FB Demi" panose="020E0802020502020306" pitchFamily="34" charset="0"/>
                <a:ea typeface="SamsungOne 800" panose="020B0903030303020204" pitchFamily="34" charset="0"/>
              </a:rPr>
              <a:t>Prakash</a:t>
            </a:r>
            <a:r>
              <a:rPr lang="en-US" sz="3200" b="1" dirty="0">
                <a:solidFill>
                  <a:schemeClr val="tx2"/>
                </a:solidFill>
                <a:latin typeface="Berlin Sans FB Demi" panose="020E0802020502020306" pitchFamily="34" charset="0"/>
                <a:ea typeface="SamsungOne 800" panose="020B0903030303020204" pitchFamily="34" charset="0"/>
              </a:rPr>
              <a:t> J</a:t>
            </a:r>
            <a:br>
              <a:rPr lang="en-US" sz="4000" b="1" dirty="0">
                <a:solidFill>
                  <a:schemeClr val="tx2"/>
                </a:solidFill>
                <a:latin typeface="Berlin Sans FB Demi" panose="020E0802020502020306" pitchFamily="34" charset="0"/>
                <a:ea typeface="SamsungOne 800" panose="020B0903030303020204" pitchFamily="34" charset="0"/>
              </a:rPr>
            </a:br>
            <a:endParaRPr lang="en-US" sz="4000" b="1" dirty="0">
              <a:solidFill>
                <a:schemeClr val="tx2"/>
              </a:solidFill>
              <a:latin typeface="Berlin Sans FB Demi" panose="020E0802020502020306" pitchFamily="34" charset="0"/>
              <a:ea typeface="SamsungOne 800" panose="020B0903030303020204" pitchFamily="34" charset="0"/>
            </a:endParaRPr>
          </a:p>
        </p:txBody>
      </p:sp>
      <p:grpSp>
        <p:nvGrpSpPr>
          <p:cNvPr id="2" name="Group 1">
            <a:extLst>
              <a:ext uri="{FF2B5EF4-FFF2-40B4-BE49-F238E27FC236}">
                <a16:creationId xmlns:a16="http://schemas.microsoft.com/office/drawing/2014/main" id="{8263B24E-BBCD-4BAC-9AEF-81547E82C9E5}"/>
              </a:ext>
            </a:extLst>
          </p:cNvPr>
          <p:cNvGrpSpPr/>
          <p:nvPr/>
        </p:nvGrpSpPr>
        <p:grpSpPr>
          <a:xfrm>
            <a:off x="137355" y="46746"/>
            <a:ext cx="3814159" cy="639045"/>
            <a:chOff x="137355" y="133834"/>
            <a:chExt cx="3814159" cy="639045"/>
          </a:xfrm>
        </p:grpSpPr>
        <p:pic>
          <p:nvPicPr>
            <p:cNvPr id="21" name="Picture 20">
              <a:extLst>
                <a:ext uri="{FF2B5EF4-FFF2-40B4-BE49-F238E27FC236}">
                  <a16:creationId xmlns:a16="http://schemas.microsoft.com/office/drawing/2014/main" id="{3C9D2D8C-378C-4311-B59D-9891D5378E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355" y="133834"/>
              <a:ext cx="974396" cy="639045"/>
            </a:xfrm>
            <a:prstGeom prst="rect">
              <a:avLst/>
            </a:prstGeom>
          </p:spPr>
        </p:pic>
        <p:sp>
          <p:nvSpPr>
            <p:cNvPr id="7" name="TextBox 6">
              <a:extLst>
                <a:ext uri="{FF2B5EF4-FFF2-40B4-BE49-F238E27FC236}">
                  <a16:creationId xmlns:a16="http://schemas.microsoft.com/office/drawing/2014/main" id="{5AA001E0-3B05-4E97-9F59-DA7472558885}"/>
                </a:ext>
              </a:extLst>
            </p:cNvPr>
            <p:cNvSpPr txBox="1"/>
            <p:nvPr/>
          </p:nvSpPr>
          <p:spPr>
            <a:xfrm>
              <a:off x="1017814" y="244337"/>
              <a:ext cx="2933700" cy="369332"/>
            </a:xfrm>
            <a:prstGeom prst="rect">
              <a:avLst/>
            </a:prstGeom>
            <a:noFill/>
          </p:spPr>
          <p:txBody>
            <a:bodyPr wrap="square">
              <a:spAutoFit/>
            </a:bodyPr>
            <a:lstStyle/>
            <a:p>
              <a:pPr algn="ctr"/>
              <a:r>
                <a:rPr lang="en-US" b="1" dirty="0">
                  <a:latin typeface="Berlin Sans FB Demi" panose="020E0802020502020306" pitchFamily="34" charset="0"/>
                  <a:ea typeface="SamsungOne 800" panose="020B0903030303020204" pitchFamily="34" charset="0"/>
                </a:rPr>
                <a:t>| Tech Management, SRI-B</a:t>
              </a:r>
              <a:endParaRPr lang="en-US" b="1" dirty="0">
                <a:solidFill>
                  <a:srgbClr val="E81B25"/>
                </a:solidFill>
                <a:latin typeface="Berlin Sans FB Demi" panose="020E0802020502020306" pitchFamily="34" charset="0"/>
                <a:ea typeface="SamsungOne 800" panose="020B0903030303020204" pitchFamily="34" charset="0"/>
              </a:endParaRPr>
            </a:p>
          </p:txBody>
        </p:sp>
      </p:grpSp>
    </p:spTree>
    <p:extLst>
      <p:ext uri="{BB962C8B-B14F-4D97-AF65-F5344CB8AC3E}">
        <p14:creationId xmlns:p14="http://schemas.microsoft.com/office/powerpoint/2010/main" val="2354731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txBody>
          <a:bodyPr/>
          <a:lstStyle/>
          <a:p>
            <a:endParaRPr lang="en-IN"/>
          </a:p>
        </p:txBody>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Problem Statement</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15559" y="2115206"/>
            <a:ext cx="9043584" cy="1631216"/>
          </a:xfrm>
          <a:prstGeom prst="rect">
            <a:avLst/>
          </a:prstGeom>
          <a:noFill/>
        </p:spPr>
        <p:txBody>
          <a:bodyPr wrap="square" rtlCol="0">
            <a:spAutoFit/>
          </a:bodyPr>
          <a:lstStyle/>
          <a:p>
            <a:r>
              <a:rPr lang="en-US" sz="2000" dirty="0"/>
              <a:t>We chose the </a:t>
            </a:r>
            <a:r>
              <a:rPr lang="en-US" sz="2000" b="1" dirty="0"/>
              <a:t>Productivity</a:t>
            </a:r>
            <a:r>
              <a:rPr lang="en-US" sz="2000" dirty="0"/>
              <a:t> theme to solve a common collaboration problem: team context is scattered across chats, docs, and meetings, which slows down decisions and reduces productivity. Our solution is for student teams, startup teams, and small project groups that need a private, shared AI teammate to keep tasks, decisions, and updates in sync.</a:t>
            </a:r>
            <a:endParaRPr lang="en-IN" sz="2000" dirty="0"/>
          </a:p>
        </p:txBody>
      </p:sp>
    </p:spTree>
    <p:extLst>
      <p:ext uri="{BB962C8B-B14F-4D97-AF65-F5344CB8AC3E}">
        <p14:creationId xmlns:p14="http://schemas.microsoft.com/office/powerpoint/2010/main" val="1451803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txBody>
          <a:bodyPr/>
          <a:lstStyle/>
          <a:p>
            <a:endParaRPr lang="en-IN"/>
          </a:p>
        </p:txBody>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Current Solution &amp; Gaps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9276340" cy="3693319"/>
          </a:xfrm>
          <a:prstGeom prst="rect">
            <a:avLst/>
          </a:prstGeom>
          <a:noFill/>
        </p:spPr>
        <p:txBody>
          <a:bodyPr wrap="square" rtlCol="0">
            <a:spAutoFit/>
          </a:bodyPr>
          <a:lstStyle/>
          <a:p>
            <a:r>
              <a:rPr lang="en-US" b="1" dirty="0"/>
              <a:t>Existing solutions</a:t>
            </a:r>
          </a:p>
          <a:p>
            <a:r>
              <a:rPr lang="en-US" dirty="0"/>
              <a:t>Current AI productivity tools like Asana AI Teammates, Microsoft Teams AI, Google Workspace AI, and Slack AI help with task tracking, summaries, and automation.</a:t>
            </a:r>
          </a:p>
          <a:p>
            <a:endParaRPr lang="en-US" dirty="0"/>
          </a:p>
          <a:p>
            <a:r>
              <a:rPr lang="en-US" b="1" dirty="0"/>
              <a:t>What’s missing</a:t>
            </a:r>
          </a:p>
          <a:p>
            <a:r>
              <a:rPr lang="en-US" dirty="0"/>
              <a:t>Most of them still work like </a:t>
            </a:r>
            <a:r>
              <a:rPr lang="en-US" b="1" dirty="0"/>
              <a:t>single-user assistants</a:t>
            </a:r>
            <a:r>
              <a:rPr lang="en-US" dirty="0"/>
              <a:t>. They do not provide a shared project memory, cross-channel coordination, or a persistent AI teammate that understands the whole team’s context over time.</a:t>
            </a:r>
          </a:p>
          <a:p>
            <a:endParaRPr lang="en-US" dirty="0"/>
          </a:p>
          <a:p>
            <a:r>
              <a:rPr lang="en-US" b="1" dirty="0"/>
              <a:t>Our opportunity</a:t>
            </a:r>
          </a:p>
          <a:p>
            <a:r>
              <a:rPr lang="en-US" dirty="0"/>
              <a:t>There is a strong opportunity to build a </a:t>
            </a:r>
            <a:r>
              <a:rPr lang="en-US" b="1" dirty="0"/>
              <a:t>team-first AI layer</a:t>
            </a:r>
            <a:r>
              <a:rPr lang="en-US" dirty="0"/>
              <a:t> that keeps decisions, tasks, and updates in sync across channels, reduces coordination overhead, and helps teams move faster without losing context.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txBody>
          <a:bodyPr/>
          <a:lstStyle/>
          <a:p>
            <a:endParaRPr lang="en-IN"/>
          </a:p>
        </p:txBody>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Your Solutions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631315" cy="4524315"/>
          </a:xfrm>
          <a:prstGeom prst="rect">
            <a:avLst/>
          </a:prstGeom>
          <a:noFill/>
        </p:spPr>
        <p:txBody>
          <a:bodyPr wrap="square" rtlCol="0">
            <a:spAutoFit/>
          </a:bodyPr>
          <a:lstStyle/>
          <a:p>
            <a:r>
              <a:rPr lang="en-US" b="1" dirty="0"/>
              <a:t>What we built</a:t>
            </a:r>
          </a:p>
          <a:p>
            <a:r>
              <a:rPr lang="en-US" dirty="0"/>
              <a:t>We built </a:t>
            </a:r>
            <a:r>
              <a:rPr lang="en-US" b="1" dirty="0" err="1"/>
              <a:t>Collab</a:t>
            </a:r>
            <a:r>
              <a:rPr lang="en-US" b="1" dirty="0"/>
              <a:t> Mesh</a:t>
            </a:r>
            <a:r>
              <a:rPr lang="en-US" dirty="0"/>
              <a:t>, a shared AI teammate for small teams that helps manage conversations, decisions, and tasks across multiple channels. It acts as a project brain that keeps context, updates, and ownership in one place.</a:t>
            </a:r>
          </a:p>
          <a:p>
            <a:endParaRPr lang="en-US" dirty="0"/>
          </a:p>
          <a:p>
            <a:r>
              <a:rPr lang="en-US" b="1" dirty="0"/>
              <a:t>Core idea</a:t>
            </a:r>
          </a:p>
          <a:p>
            <a:r>
              <a:rPr lang="en-US" dirty="0"/>
              <a:t>Instead of using AI as a single-user assistant, </a:t>
            </a:r>
            <a:r>
              <a:rPr lang="en-US" dirty="0" err="1"/>
              <a:t>Collab</a:t>
            </a:r>
            <a:r>
              <a:rPr lang="en-US" dirty="0"/>
              <a:t> Mesh is designed as a </a:t>
            </a:r>
            <a:r>
              <a:rPr lang="en-US" b="1" dirty="0"/>
              <a:t>team-level collaborator</a:t>
            </a:r>
            <a:r>
              <a:rPr lang="en-US" dirty="0"/>
              <a:t>. It listens to team activity, stores important project memory, and helps the whole group stay aligned without repeated explanations or unnecessary meetings.</a:t>
            </a:r>
          </a:p>
          <a:p>
            <a:endParaRPr lang="en-US" dirty="0"/>
          </a:p>
          <a:p>
            <a:r>
              <a:rPr lang="en-US" b="1" dirty="0"/>
              <a:t>Key features</a:t>
            </a:r>
          </a:p>
          <a:p>
            <a:r>
              <a:rPr lang="en-US" b="1" dirty="0"/>
              <a:t>Shared team memory</a:t>
            </a:r>
            <a:r>
              <a:rPr lang="en-US" dirty="0"/>
              <a:t> to remember decisions, tasks, and project context.</a:t>
            </a:r>
          </a:p>
          <a:p>
            <a:r>
              <a:rPr lang="en-US" b="1" dirty="0"/>
              <a:t>Discord-based collaboration </a:t>
            </a:r>
            <a:r>
              <a:rPr lang="en-US" dirty="0"/>
              <a:t>so teammates can share updates, and coordinate in one shared space.</a:t>
            </a:r>
          </a:p>
          <a:p>
            <a:r>
              <a:rPr lang="en-US" b="1" dirty="0"/>
              <a:t>Task routing and ownership tracking</a:t>
            </a:r>
            <a:r>
              <a:rPr lang="en-US" dirty="0"/>
              <a:t> to assign work to the right person.</a:t>
            </a:r>
          </a:p>
          <a:p>
            <a:r>
              <a:rPr lang="en-US" b="1" dirty="0" err="1"/>
              <a:t>Async</a:t>
            </a:r>
            <a:r>
              <a:rPr lang="en-US" b="1" dirty="0"/>
              <a:t> decision support</a:t>
            </a:r>
            <a:r>
              <a:rPr lang="en-US" dirty="0"/>
              <a:t> to help teams decide without long calls.</a:t>
            </a:r>
          </a:p>
          <a:p>
            <a:r>
              <a:rPr lang="en-US" b="1" dirty="0"/>
              <a:t>Heartbeat/standup automation</a:t>
            </a:r>
            <a:r>
              <a:rPr lang="en-US" dirty="0"/>
              <a:t> to keep the team updated proactively.</a:t>
            </a:r>
          </a:p>
        </p:txBody>
      </p:sp>
    </p:spTree>
    <p:extLst>
      <p:ext uri="{BB962C8B-B14F-4D97-AF65-F5344CB8AC3E}">
        <p14:creationId xmlns:p14="http://schemas.microsoft.com/office/powerpoint/2010/main" val="100525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txBody>
          <a:bodyPr/>
          <a:lstStyle/>
          <a:p>
            <a:endParaRPr lang="en-IN"/>
          </a:p>
        </p:txBody>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                                    Demo/Product Walkthrough</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367132" y="1403510"/>
            <a:ext cx="5380525" cy="4247317"/>
          </a:xfrm>
          <a:prstGeom prst="rect">
            <a:avLst/>
          </a:prstGeom>
          <a:noFill/>
        </p:spPr>
        <p:txBody>
          <a:bodyPr wrap="square" rtlCol="0">
            <a:spAutoFit/>
          </a:bodyPr>
          <a:lstStyle/>
          <a:p>
            <a:r>
              <a:rPr lang="en-IN" b="1" dirty="0"/>
              <a:t>Screen/Flow</a:t>
            </a:r>
          </a:p>
          <a:p>
            <a:endParaRPr lang="en-IN" b="1" dirty="0"/>
          </a:p>
          <a:p>
            <a:endParaRPr lang="en-IN" b="1" dirty="0"/>
          </a:p>
          <a:p>
            <a:r>
              <a:rPr lang="en-IN" dirty="0"/>
              <a:t> Team channel </a:t>
            </a:r>
          </a:p>
          <a:p>
            <a:r>
              <a:rPr lang="en-IN" dirty="0"/>
              <a:t>   </a:t>
            </a:r>
            <a:r>
              <a:rPr lang="en-IN" dirty="0" err="1"/>
              <a:t>alice</a:t>
            </a:r>
            <a:r>
              <a:rPr lang="en-IN" dirty="0"/>
              <a:t>: decision: ship Friday    </a:t>
            </a:r>
          </a:p>
          <a:p>
            <a:r>
              <a:rPr lang="en-IN" dirty="0"/>
              <a:t> TestBot9839: Logged decision #1 — </a:t>
            </a:r>
            <a:r>
              <a:rPr lang="en-IN" dirty="0" err="1"/>
              <a:t>alice</a:t>
            </a:r>
            <a:r>
              <a:rPr lang="en-IN" dirty="0"/>
              <a:t>  ← visible </a:t>
            </a:r>
          </a:p>
          <a:p>
            <a:r>
              <a:rPr lang="en-IN" dirty="0"/>
              <a:t>                       ↓</a:t>
            </a:r>
          </a:p>
          <a:p>
            <a:r>
              <a:rPr lang="en-IN" dirty="0"/>
              <a:t> Team channel </a:t>
            </a:r>
          </a:p>
          <a:p>
            <a:r>
              <a:rPr lang="en-IN" dirty="0"/>
              <a:t> </a:t>
            </a:r>
            <a:r>
              <a:rPr lang="en-IN" dirty="0" err="1"/>
              <a:t>alice</a:t>
            </a:r>
            <a:r>
              <a:rPr lang="en-IN" dirty="0"/>
              <a:t>: task: build back end design.</a:t>
            </a:r>
          </a:p>
          <a:p>
            <a:r>
              <a:rPr lang="en-IN" dirty="0"/>
              <a:t>TestBot9839: Routed task #1 to @Alex  </a:t>
            </a:r>
          </a:p>
          <a:p>
            <a:r>
              <a:rPr lang="en-IN" dirty="0"/>
              <a:t>                      ↓</a:t>
            </a:r>
          </a:p>
          <a:p>
            <a:r>
              <a:rPr lang="en-IN" dirty="0"/>
              <a:t> Direct message (Alex's inbox) </a:t>
            </a:r>
          </a:p>
          <a:p>
            <a:r>
              <a:rPr lang="en-IN" dirty="0"/>
              <a:t> TestBot9839: Synapse — new task     ← private </a:t>
            </a:r>
          </a:p>
          <a:p>
            <a:r>
              <a:rPr lang="en-IN" dirty="0"/>
              <a:t>           from @alice: ...      </a:t>
            </a:r>
            <a:br>
              <a:rPr lang="en-IN" dirty="0"/>
            </a:br>
            <a:endParaRPr lang="en-IN" dirty="0"/>
          </a:p>
        </p:txBody>
      </p:sp>
      <p:sp>
        <p:nvSpPr>
          <p:cNvPr id="6" name="TextBox 5">
            <a:extLst>
              <a:ext uri="{FF2B5EF4-FFF2-40B4-BE49-F238E27FC236}">
                <a16:creationId xmlns:a16="http://schemas.microsoft.com/office/drawing/2014/main" id="{309EB440-8F70-028C-62D0-D2C02007CE7D}"/>
              </a:ext>
            </a:extLst>
          </p:cNvPr>
          <p:cNvSpPr txBox="1"/>
          <p:nvPr/>
        </p:nvSpPr>
        <p:spPr>
          <a:xfrm>
            <a:off x="6366490" y="1492117"/>
            <a:ext cx="5893984" cy="646331"/>
          </a:xfrm>
          <a:prstGeom prst="rect">
            <a:avLst/>
          </a:prstGeom>
          <a:noFill/>
        </p:spPr>
        <p:txBody>
          <a:bodyPr wrap="square" rtlCol="0">
            <a:spAutoFit/>
          </a:bodyPr>
          <a:lstStyle/>
          <a:p>
            <a:br>
              <a:rPr lang="en-IN" dirty="0"/>
            </a:br>
            <a:r>
              <a:rPr lang="en-IN" b="1" dirty="0"/>
              <a:t>How the user Interacts</a:t>
            </a:r>
          </a:p>
        </p:txBody>
      </p:sp>
      <p:graphicFrame>
        <p:nvGraphicFramePr>
          <p:cNvPr id="7" name="Table 6">
            <a:extLst>
              <a:ext uri="{FF2B5EF4-FFF2-40B4-BE49-F238E27FC236}">
                <a16:creationId xmlns:a16="http://schemas.microsoft.com/office/drawing/2014/main" id="{7F06E58F-B7F8-A43A-03C7-073C4D2B2309}"/>
              </a:ext>
            </a:extLst>
          </p:cNvPr>
          <p:cNvGraphicFramePr>
            <a:graphicFrameLocks noGrp="1"/>
          </p:cNvGraphicFramePr>
          <p:nvPr>
            <p:extLst>
              <p:ext uri="{D42A27DB-BD31-4B8C-83A1-F6EECF244321}">
                <p14:modId xmlns:p14="http://schemas.microsoft.com/office/powerpoint/2010/main" val="106397684"/>
              </p:ext>
            </p:extLst>
          </p:nvPr>
        </p:nvGraphicFramePr>
        <p:xfrm>
          <a:off x="6366490" y="2338224"/>
          <a:ext cx="5403975" cy="2225040"/>
        </p:xfrm>
        <a:graphic>
          <a:graphicData uri="http://schemas.openxmlformats.org/drawingml/2006/table">
            <a:tbl>
              <a:tblPr/>
              <a:tblGrid>
                <a:gridCol w="1801325">
                  <a:extLst>
                    <a:ext uri="{9D8B030D-6E8A-4147-A177-3AD203B41FA5}">
                      <a16:colId xmlns:a16="http://schemas.microsoft.com/office/drawing/2014/main" val="1491043268"/>
                    </a:ext>
                  </a:extLst>
                </a:gridCol>
                <a:gridCol w="1801325">
                  <a:extLst>
                    <a:ext uri="{9D8B030D-6E8A-4147-A177-3AD203B41FA5}">
                      <a16:colId xmlns:a16="http://schemas.microsoft.com/office/drawing/2014/main" val="2371288350"/>
                    </a:ext>
                  </a:extLst>
                </a:gridCol>
                <a:gridCol w="1801325">
                  <a:extLst>
                    <a:ext uri="{9D8B030D-6E8A-4147-A177-3AD203B41FA5}">
                      <a16:colId xmlns:a16="http://schemas.microsoft.com/office/drawing/2014/main" val="4270459717"/>
                    </a:ext>
                  </a:extLst>
                </a:gridCol>
              </a:tblGrid>
              <a:tr h="228946">
                <a:tc>
                  <a:txBody>
                    <a:bodyPr/>
                    <a:lstStyle/>
                    <a:p>
                      <a:pPr algn="l" fontAlgn="t">
                        <a:buNone/>
                      </a:pPr>
                      <a:r>
                        <a:rPr lang="en-IN" b="0">
                          <a:effectLst/>
                        </a:rPr>
                        <a:t>Action</a:t>
                      </a: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tc>
                  <a:txBody>
                    <a:bodyPr/>
                    <a:lstStyle/>
                    <a:p>
                      <a:pPr algn="l" fontAlgn="t">
                        <a:buNone/>
                      </a:pPr>
                      <a:r>
                        <a:rPr lang="en-IN" b="0">
                          <a:effectLst/>
                        </a:rPr>
                        <a:t>What user types</a:t>
                      </a: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tc>
                  <a:txBody>
                    <a:bodyPr/>
                    <a:lstStyle/>
                    <a:p>
                      <a:pPr algn="l" fontAlgn="t">
                        <a:buNone/>
                      </a:pPr>
                      <a:r>
                        <a:rPr lang="en-IN" b="0">
                          <a:effectLst/>
                        </a:rPr>
                        <a:t>Where</a:t>
                      </a: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extLst>
                  <a:ext uri="{0D108BD9-81ED-4DB2-BD59-A6C34878D82A}">
                    <a16:rowId xmlns:a16="http://schemas.microsoft.com/office/drawing/2014/main" val="2773974708"/>
                  </a:ext>
                </a:extLst>
              </a:tr>
              <a:tr h="0">
                <a:tc>
                  <a:txBody>
                    <a:bodyPr/>
                    <a:lstStyle/>
                    <a:p>
                      <a:pPr algn="l" fontAlgn="t">
                        <a:buNone/>
                      </a:pPr>
                      <a:r>
                        <a:rPr lang="en-IN">
                          <a:effectLst/>
                        </a:rPr>
                        <a:t>Log a decision</a:t>
                      </a: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tc>
                  <a:txBody>
                    <a:bodyPr/>
                    <a:lstStyle/>
                    <a:p>
                      <a:pPr algn="l" fontAlgn="t">
                        <a:buNone/>
                      </a:pPr>
                      <a:r>
                        <a:rPr lang="en-IN" dirty="0">
                          <a:solidFill>
                            <a:schemeClr val="tx1"/>
                          </a:solidFill>
                          <a:effectLst/>
                          <a:latin typeface="Anthropic Mono"/>
                        </a:rPr>
                        <a:t>decision: &lt;text&gt;</a:t>
                      </a:r>
                      <a:endParaRPr lang="en-IN" dirty="0">
                        <a:solidFill>
                          <a:schemeClr val="tx1"/>
                        </a:solidFill>
                        <a:effectLst/>
                      </a:endParaRP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tc>
                  <a:txBody>
                    <a:bodyPr/>
                    <a:lstStyle/>
                    <a:p>
                      <a:pPr algn="l" fontAlgn="t">
                        <a:buNone/>
                      </a:pPr>
                      <a:r>
                        <a:rPr lang="en-US">
                          <a:effectLst/>
                        </a:rPr>
                        <a:t>Any team channel the bot is in</a:t>
                      </a: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extLst>
                  <a:ext uri="{0D108BD9-81ED-4DB2-BD59-A6C34878D82A}">
                    <a16:rowId xmlns:a16="http://schemas.microsoft.com/office/drawing/2014/main" val="3930453481"/>
                  </a:ext>
                </a:extLst>
              </a:tr>
              <a:tr h="0">
                <a:tc>
                  <a:txBody>
                    <a:bodyPr/>
                    <a:lstStyle/>
                    <a:p>
                      <a:pPr algn="l" fontAlgn="t">
                        <a:buNone/>
                      </a:pPr>
                      <a:r>
                        <a:rPr lang="en-IN">
                          <a:effectLst/>
                        </a:rPr>
                        <a:t>Assign a task</a:t>
                      </a: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tc>
                  <a:txBody>
                    <a:bodyPr/>
                    <a:lstStyle/>
                    <a:p>
                      <a:pPr algn="l" fontAlgn="t">
                        <a:buNone/>
                      </a:pPr>
                      <a:r>
                        <a:rPr lang="en-IN" dirty="0">
                          <a:solidFill>
                            <a:schemeClr val="tx1"/>
                          </a:solidFill>
                          <a:effectLst/>
                          <a:latin typeface="Anthropic Mono"/>
                        </a:rPr>
                        <a:t>task: &lt;text&gt;</a:t>
                      </a:r>
                      <a:endParaRPr lang="en-IN" dirty="0">
                        <a:solidFill>
                          <a:schemeClr val="tx1"/>
                        </a:solidFill>
                        <a:effectLst/>
                      </a:endParaRP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tc>
                  <a:txBody>
                    <a:bodyPr/>
                    <a:lstStyle/>
                    <a:p>
                      <a:pPr algn="l" fontAlgn="t">
                        <a:buNone/>
                      </a:pPr>
                      <a:r>
                        <a:rPr lang="en-US">
                          <a:effectLst/>
                        </a:rPr>
                        <a:t>Any team channel the bot is in</a:t>
                      </a: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extLst>
                  <a:ext uri="{0D108BD9-81ED-4DB2-BD59-A6C34878D82A}">
                    <a16:rowId xmlns:a16="http://schemas.microsoft.com/office/drawing/2014/main" val="1159975836"/>
                  </a:ext>
                </a:extLst>
              </a:tr>
              <a:tr h="0">
                <a:tc>
                  <a:txBody>
                    <a:bodyPr/>
                    <a:lstStyle/>
                    <a:p>
                      <a:pPr algn="l" fontAlgn="t">
                        <a:buNone/>
                      </a:pPr>
                      <a:r>
                        <a:rPr lang="en-US" dirty="0">
                          <a:effectLst/>
                        </a:rPr>
                        <a:t>Overview of tasks and decisions</a:t>
                      </a:r>
                      <a:endParaRPr lang="en-IN" dirty="0">
                        <a:effectLst/>
                      </a:endParaRP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tc>
                  <a:txBody>
                    <a:bodyPr/>
                    <a:lstStyle/>
                    <a:p>
                      <a:pPr algn="l" fontAlgn="t">
                        <a:buNone/>
                      </a:pPr>
                      <a:r>
                        <a:rPr lang="en-IN" dirty="0">
                          <a:effectLst/>
                        </a:rPr>
                        <a:t>—</a:t>
                      </a: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tc>
                  <a:txBody>
                    <a:bodyPr/>
                    <a:lstStyle/>
                    <a:p>
                      <a:pPr algn="l" fontAlgn="t">
                        <a:buNone/>
                      </a:pPr>
                      <a:r>
                        <a:rPr lang="en-IN" dirty="0">
                          <a:effectLst/>
                        </a:rPr>
                        <a:t>fully automatic.</a:t>
                      </a:r>
                    </a:p>
                  </a:txBody>
                  <a:tcPr marL="38100" marR="38100" marT="38100" marB="38100">
                    <a:lnL w="12700" cap="flat" cmpd="sng" algn="ctr">
                      <a:solidFill>
                        <a:srgbClr val="E2E1DA"/>
                      </a:solidFill>
                      <a:prstDash val="solid"/>
                      <a:round/>
                      <a:headEnd type="none" w="med" len="med"/>
                      <a:tailEnd type="none" w="med" len="med"/>
                    </a:lnL>
                    <a:lnR w="12700" cap="flat" cmpd="sng" algn="ctr">
                      <a:solidFill>
                        <a:srgbClr val="E2E1DA"/>
                      </a:solidFill>
                      <a:prstDash val="solid"/>
                      <a:round/>
                      <a:headEnd type="none" w="med" len="med"/>
                      <a:tailEnd type="none" w="med" len="med"/>
                    </a:lnR>
                    <a:lnT w="12700" cap="flat" cmpd="sng" algn="ctr">
                      <a:solidFill>
                        <a:srgbClr val="E2E1DA"/>
                      </a:solidFill>
                      <a:prstDash val="solid"/>
                      <a:round/>
                      <a:headEnd type="none" w="med" len="med"/>
                      <a:tailEnd type="none" w="med" len="med"/>
                    </a:lnT>
                    <a:lnB w="12700" cap="flat" cmpd="sng" algn="ctr">
                      <a:solidFill>
                        <a:srgbClr val="E2E1DA"/>
                      </a:solidFill>
                      <a:prstDash val="solid"/>
                      <a:round/>
                      <a:headEnd type="none" w="med" len="med"/>
                      <a:tailEnd type="none" w="med" len="med"/>
                    </a:lnB>
                    <a:noFill/>
                  </a:tcPr>
                </a:tc>
                <a:extLst>
                  <a:ext uri="{0D108BD9-81ED-4DB2-BD59-A6C34878D82A}">
                    <a16:rowId xmlns:a16="http://schemas.microsoft.com/office/drawing/2014/main" val="1345420459"/>
                  </a:ext>
                </a:extLst>
              </a:tr>
            </a:tbl>
          </a:graphicData>
        </a:graphic>
      </p:graphicFrame>
      <p:sp>
        <p:nvSpPr>
          <p:cNvPr id="11" name="TextBox 10">
            <a:extLst>
              <a:ext uri="{FF2B5EF4-FFF2-40B4-BE49-F238E27FC236}">
                <a16:creationId xmlns:a16="http://schemas.microsoft.com/office/drawing/2014/main" id="{1751CC07-5565-5E6D-F14E-2750052837F9}"/>
              </a:ext>
            </a:extLst>
          </p:cNvPr>
          <p:cNvSpPr txBox="1"/>
          <p:nvPr/>
        </p:nvSpPr>
        <p:spPr>
          <a:xfrm>
            <a:off x="6261000" y="4763040"/>
            <a:ext cx="6104964" cy="369332"/>
          </a:xfrm>
          <a:prstGeom prst="rect">
            <a:avLst/>
          </a:prstGeom>
          <a:noFill/>
        </p:spPr>
        <p:txBody>
          <a:bodyPr wrap="square">
            <a:spAutoFit/>
          </a:bodyPr>
          <a:lstStyle/>
          <a:p>
            <a:pPr algn="l">
              <a:buNone/>
            </a:pPr>
            <a:r>
              <a:rPr lang="en-US" b="1" i="0" dirty="0">
                <a:effectLst/>
                <a:latin typeface="Anthropic Sans"/>
              </a:rPr>
              <a:t>Key moments</a:t>
            </a:r>
          </a:p>
        </p:txBody>
      </p:sp>
      <p:sp>
        <p:nvSpPr>
          <p:cNvPr id="12" name="TextBox 11">
            <a:extLst>
              <a:ext uri="{FF2B5EF4-FFF2-40B4-BE49-F238E27FC236}">
                <a16:creationId xmlns:a16="http://schemas.microsoft.com/office/drawing/2014/main" id="{03B68814-DC9D-66E5-FCC0-4CE78FEC3F92}"/>
              </a:ext>
            </a:extLst>
          </p:cNvPr>
          <p:cNvSpPr txBox="1"/>
          <p:nvPr/>
        </p:nvSpPr>
        <p:spPr>
          <a:xfrm>
            <a:off x="6261000" y="5318556"/>
            <a:ext cx="6104964" cy="2031325"/>
          </a:xfrm>
          <a:prstGeom prst="rect">
            <a:avLst/>
          </a:prstGeom>
          <a:noFill/>
        </p:spPr>
        <p:txBody>
          <a:bodyPr wrap="square">
            <a:spAutoFit/>
          </a:bodyPr>
          <a:lstStyle/>
          <a:p>
            <a:pPr marL="285750" indent="-285750">
              <a:buFont typeface="Arial" panose="020B0604020202020204" pitchFamily="34" charset="0"/>
              <a:buChar char="•"/>
            </a:pPr>
            <a:r>
              <a:rPr lang="en-IN" dirty="0"/>
              <a:t>Permanent project memory</a:t>
            </a:r>
          </a:p>
          <a:p>
            <a:endParaRPr lang="en-IN" dirty="0"/>
          </a:p>
          <a:p>
            <a:pPr marL="285750" indent="-285750">
              <a:buFont typeface="Arial" panose="020B0604020202020204" pitchFamily="34" charset="0"/>
              <a:buChar char="•"/>
            </a:pPr>
            <a:r>
              <a:rPr lang="en-US" dirty="0"/>
              <a:t>The agent picks the right person for the task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Overview of the tasks and decisions by itself.</a:t>
            </a:r>
          </a:p>
          <a:p>
            <a:pPr marL="285750" indent="-285750">
              <a:buFont typeface="Arial" panose="020B0604020202020204" pitchFamily="34" charset="0"/>
              <a:buChar char="•"/>
            </a:pPr>
            <a:endParaRPr lang="en-IN" dirty="0"/>
          </a:p>
          <a:p>
            <a:pPr marL="285750" indent="-285750" algn="l">
              <a:buFont typeface="Arial" panose="020B0604020202020204" pitchFamily="34" charset="0"/>
              <a:buChar char="•"/>
            </a:pPr>
            <a:endParaRPr lang="en-US" b="1" i="0" dirty="0">
              <a:effectLst/>
              <a:latin typeface="Anthropic Sans"/>
            </a:endParaRPr>
          </a:p>
        </p:txBody>
      </p:sp>
    </p:spTree>
    <p:extLst>
      <p:ext uri="{BB962C8B-B14F-4D97-AF65-F5344CB8AC3E}">
        <p14:creationId xmlns:p14="http://schemas.microsoft.com/office/powerpoint/2010/main" val="452960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txBody>
          <a:bodyPr/>
          <a:lstStyle/>
          <a:p>
            <a:endParaRPr lang="en-IN"/>
          </a:p>
        </p:txBody>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4801314"/>
          </a:xfrm>
          <a:prstGeom prst="rect">
            <a:avLst/>
          </a:prstGeom>
          <a:noFill/>
          <a:ln>
            <a:solidFill>
              <a:schemeClr val="tx1"/>
            </a:solidFill>
          </a:ln>
        </p:spPr>
        <p:txBody>
          <a:bodyPr wrap="square" rtlCol="0">
            <a:spAutoFit/>
          </a:bodyPr>
          <a:lstStyle/>
          <a:p>
            <a:r>
              <a:rPr lang="en-IN" dirty="0"/>
              <a:t>Framework: </a:t>
            </a:r>
            <a:r>
              <a:rPr lang="en-IN" dirty="0" err="1">
                <a:hlinkClick r:id="rId3"/>
              </a:rPr>
              <a:t>OpenClaw</a:t>
            </a:r>
            <a:r>
              <a:rPr lang="en-IN" dirty="0">
                <a:hlinkClick r:id="rId3"/>
              </a:rPr>
              <a:t> 2026.5.6</a:t>
            </a:r>
            <a:r>
              <a:rPr lang="en-IN" dirty="0"/>
              <a:t> — self-hosted multi-channel agent gateway</a:t>
            </a:r>
          </a:p>
          <a:p>
            <a:r>
              <a:rPr lang="en-IN" dirty="0"/>
              <a:t>Runtime: Node.js 24 LTS</a:t>
            </a:r>
          </a:p>
          <a:p>
            <a:r>
              <a:rPr lang="en-IN" dirty="0"/>
              <a:t>LLM: Google Gemini 2.5 Flash (via Google AI Studio)</a:t>
            </a:r>
          </a:p>
          <a:p>
            <a:r>
              <a:rPr lang="en-IN" dirty="0"/>
              <a:t>Chat surface: Discord — via </a:t>
            </a:r>
            <a:r>
              <a:rPr lang="en-IN" dirty="0" err="1"/>
              <a:t>OpenClaw's</a:t>
            </a:r>
            <a:r>
              <a:rPr lang="en-IN" dirty="0"/>
              <a:t> bundled @openclaw/discord plugin</a:t>
            </a:r>
          </a:p>
          <a:p>
            <a:r>
              <a:rPr lang="en-IN" dirty="0"/>
              <a:t>Data layer: plain Markdown + JSON files (no database)</a:t>
            </a:r>
          </a:p>
          <a:p>
            <a:r>
              <a:rPr lang="en-IN" dirty="0"/>
              <a:t>Scheduling: </a:t>
            </a:r>
            <a:r>
              <a:rPr lang="en-IN" dirty="0" err="1"/>
              <a:t>OpenClaw's</a:t>
            </a:r>
            <a:r>
              <a:rPr lang="en-IN" dirty="0"/>
              <a:t> built-in </a:t>
            </a:r>
            <a:r>
              <a:rPr lang="en-IN" dirty="0" err="1"/>
              <a:t>cron</a:t>
            </a:r>
            <a:r>
              <a:rPr lang="en-IN" dirty="0"/>
              <a:t> primitive</a:t>
            </a:r>
          </a:p>
          <a:p>
            <a:r>
              <a:rPr lang="en-IN" dirty="0"/>
              <a:t>Deploy: PowerShell script </a:t>
            </a:r>
          </a:p>
          <a:p>
            <a:r>
              <a:rPr lang="en-IN" dirty="0"/>
              <a:t>VCS: Git + GitHub</a:t>
            </a:r>
          </a:p>
          <a:p>
            <a:r>
              <a:rPr lang="en-IN" dirty="0"/>
              <a:t>OS tested: Windows 11 (works on macOS/Linux unchanged)</a:t>
            </a:r>
          </a:p>
          <a:p>
            <a:endParaRPr lang="en-IN" dirty="0"/>
          </a:p>
          <a:p>
            <a:r>
              <a:rPr lang="en-IN" b="1" dirty="0"/>
              <a:t>APIs Used:</a:t>
            </a:r>
          </a:p>
          <a:p>
            <a:r>
              <a:rPr lang="en-IN" dirty="0"/>
              <a:t>Google Gemini 2.5 Flash</a:t>
            </a:r>
          </a:p>
          <a:p>
            <a:endParaRPr lang="en-IN" b="1" dirty="0"/>
          </a:p>
          <a:p>
            <a:endParaRPr lang="en-IN" b="1" dirty="0"/>
          </a:p>
        </p:txBody>
      </p:sp>
      <p:sp>
        <p:nvSpPr>
          <p:cNvPr id="6" name="TextBox 5">
            <a:extLst>
              <a:ext uri="{FF2B5EF4-FFF2-40B4-BE49-F238E27FC236}">
                <a16:creationId xmlns:a16="http://schemas.microsoft.com/office/drawing/2014/main" id="{5919BD37-F363-4C9B-2501-5E64BA5A0AA6}"/>
              </a:ext>
            </a:extLst>
          </p:cNvPr>
          <p:cNvSpPr txBox="1"/>
          <p:nvPr/>
        </p:nvSpPr>
        <p:spPr>
          <a:xfrm>
            <a:off x="6685109" y="1682945"/>
            <a:ext cx="5033042" cy="2862322"/>
          </a:xfrm>
          <a:prstGeom prst="rect">
            <a:avLst/>
          </a:prstGeom>
          <a:noFill/>
          <a:ln>
            <a:solidFill>
              <a:schemeClr val="tx1"/>
            </a:solidFill>
          </a:ln>
        </p:spPr>
        <p:txBody>
          <a:bodyPr wrap="square" rtlCol="0">
            <a:spAutoFit/>
          </a:bodyPr>
          <a:lstStyle/>
          <a:p>
            <a:r>
              <a:rPr lang="en-IN" b="1" dirty="0"/>
              <a:t>WORKFLOW:</a:t>
            </a:r>
          </a:p>
          <a:p>
            <a:endParaRPr lang="en-IN" dirty="0"/>
          </a:p>
          <a:p>
            <a:r>
              <a:rPr lang="en-IN" dirty="0"/>
              <a:t>Discord  →  </a:t>
            </a:r>
            <a:r>
              <a:rPr lang="en-IN" dirty="0" err="1"/>
              <a:t>OpenClaw</a:t>
            </a:r>
            <a:r>
              <a:rPr lang="en-IN" dirty="0"/>
              <a:t> (Discord plugin)  →  Gateway  →  Pi agent  →  reads SKILL.md</a:t>
            </a:r>
          </a:p>
          <a:p>
            <a:r>
              <a:rPr lang="en-IN" dirty="0"/>
              <a:t>                                                                    ↓</a:t>
            </a:r>
          </a:p>
          <a:p>
            <a:r>
              <a:rPr lang="en-IN" dirty="0"/>
              <a:t>                                                            calls memory + message tools</a:t>
            </a:r>
          </a:p>
          <a:p>
            <a:r>
              <a:rPr lang="en-IN" dirty="0"/>
              <a:t>                                                                    ↓</a:t>
            </a:r>
          </a:p>
          <a:p>
            <a:r>
              <a:rPr lang="en-IN" dirty="0"/>
              <a:t>                                                          updates .md files / posts to Discord</a:t>
            </a:r>
            <a:endParaRPr lang="en-IN" b="1" dirty="0"/>
          </a:p>
        </p:txBody>
      </p:sp>
    </p:spTree>
    <p:extLst>
      <p:ext uri="{BB962C8B-B14F-4D97-AF65-F5344CB8AC3E}">
        <p14:creationId xmlns:p14="http://schemas.microsoft.com/office/powerpoint/2010/main" val="5667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txBody>
          <a:bodyPr/>
          <a:lstStyle/>
          <a:p>
            <a:endParaRPr lang="en-IN"/>
          </a:p>
        </p:txBody>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Impact &amp; Use cases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897322" cy="4801314"/>
          </a:xfrm>
          <a:prstGeom prst="rect">
            <a:avLst/>
          </a:prstGeom>
          <a:noFill/>
        </p:spPr>
        <p:txBody>
          <a:bodyPr wrap="square" rtlCol="0">
            <a:spAutoFit/>
          </a:bodyPr>
          <a:lstStyle/>
          <a:p>
            <a:r>
              <a:rPr lang="en-US" b="1" dirty="0"/>
              <a:t>Real-life scenarios</a:t>
            </a:r>
          </a:p>
          <a:p>
            <a:r>
              <a:rPr lang="en-US" b="1" dirty="0"/>
              <a:t>Student project teams:</a:t>
            </a:r>
            <a:r>
              <a:rPr lang="en-US" dirty="0"/>
              <a:t> One member asks the AI to summarize decisions, assign follow-up tasks, and keep the team aligned after class.</a:t>
            </a:r>
          </a:p>
          <a:p>
            <a:r>
              <a:rPr lang="en-US" b="1" dirty="0"/>
              <a:t>Startup teams:</a:t>
            </a:r>
            <a:r>
              <a:rPr lang="en-US" dirty="0"/>
              <a:t> A small founding team uses it to track product decisions, action items, and ownership without long meetings.</a:t>
            </a:r>
          </a:p>
          <a:p>
            <a:r>
              <a:rPr lang="en-US" b="1" dirty="0" err="1"/>
              <a:t>Hackathon</a:t>
            </a:r>
            <a:r>
              <a:rPr lang="en-US" b="1" dirty="0"/>
              <a:t> teams:</a:t>
            </a:r>
            <a:r>
              <a:rPr lang="en-US" dirty="0"/>
              <a:t> Team members share updates in Discord, and the AI keeps one project memory so nothing is lost.</a:t>
            </a:r>
          </a:p>
          <a:p>
            <a:r>
              <a:rPr lang="en-US" b="1" dirty="0"/>
              <a:t>Distributed teams:</a:t>
            </a:r>
            <a:r>
              <a:rPr lang="en-US" dirty="0"/>
              <a:t> When people work at different times, the AI acts like a shared teammate that remembers context and maintains continuity.</a:t>
            </a:r>
          </a:p>
          <a:p>
            <a:endParaRPr lang="en-US" dirty="0"/>
          </a:p>
          <a:p>
            <a:r>
              <a:rPr lang="en-US" b="1" dirty="0"/>
              <a:t>Scale potential</a:t>
            </a:r>
          </a:p>
          <a:p>
            <a:r>
              <a:rPr lang="en-US" dirty="0" err="1"/>
              <a:t>Collab</a:t>
            </a:r>
            <a:r>
              <a:rPr lang="en-US" dirty="0"/>
              <a:t> Mesh can start with small student and project teams, then expand to larger groups, clubs, incubators, and even enterprise teams that need shared context and faster coordination. The same core idea can scale across different collaboration environments because it is built around persistent memory, task routing, and team-wide alignment.</a:t>
            </a:r>
          </a:p>
          <a:p>
            <a:br>
              <a:rPr lang="en-US" dirty="0"/>
            </a:br>
            <a:endParaRPr lang="en-IN" dirty="0"/>
          </a:p>
        </p:txBody>
      </p:sp>
    </p:spTree>
    <p:extLst>
      <p:ext uri="{BB962C8B-B14F-4D97-AF65-F5344CB8AC3E}">
        <p14:creationId xmlns:p14="http://schemas.microsoft.com/office/powerpoint/2010/main" val="2277358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txBody>
          <a:bodyPr/>
          <a:lstStyle/>
          <a:p>
            <a:endParaRPr lang="en-IN"/>
          </a:p>
        </p:txBody>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Differentiation</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248929" cy="3693319"/>
          </a:xfrm>
          <a:prstGeom prst="rect">
            <a:avLst/>
          </a:prstGeom>
          <a:noFill/>
        </p:spPr>
        <p:txBody>
          <a:bodyPr wrap="square" rtlCol="0">
            <a:spAutoFit/>
          </a:bodyPr>
          <a:lstStyle/>
          <a:p>
            <a:r>
              <a:rPr lang="en-IN" dirty="0">
                <a:solidFill>
                  <a:srgbClr val="000000"/>
                </a:solidFill>
                <a:latin typeface="Roboto" panose="02000000000000000000" pitchFamily="2" charset="0"/>
              </a:rPr>
              <a:t>In business, a moat is a sustainable competitive advantage that protects a company from competitors and helps maintain long-term profitability</a:t>
            </a:r>
            <a:br>
              <a:rPr lang="en-IN" dirty="0">
                <a:solidFill>
                  <a:srgbClr val="000000"/>
                </a:solidFill>
                <a:latin typeface="Roboto" panose="02000000000000000000" pitchFamily="2" charset="0"/>
              </a:rPr>
            </a:br>
            <a:br>
              <a:rPr lang="en-IN" dirty="0">
                <a:solidFill>
                  <a:srgbClr val="000000"/>
                </a:solidFill>
                <a:latin typeface="Roboto" panose="02000000000000000000" pitchFamily="2" charset="0"/>
              </a:rPr>
            </a:br>
            <a:r>
              <a:rPr lang="en-IN" dirty="0">
                <a:solidFill>
                  <a:srgbClr val="000000"/>
                </a:solidFill>
                <a:latin typeface="Roboto" panose="02000000000000000000" pitchFamily="2" charset="0"/>
              </a:rPr>
              <a:t>MOATS :</a:t>
            </a:r>
            <a:br>
              <a:rPr lang="en-IN" dirty="0">
                <a:solidFill>
                  <a:srgbClr val="000000"/>
                </a:solidFill>
                <a:latin typeface="Roboto" panose="02000000000000000000" pitchFamily="2" charset="0"/>
              </a:rPr>
            </a:br>
            <a:r>
              <a:rPr lang="en-US" b="1" dirty="0"/>
              <a:t>1. Shared project memory moat:</a:t>
            </a:r>
            <a:br>
              <a:rPr lang="en-US" dirty="0"/>
            </a:br>
            <a:r>
              <a:rPr lang="en-US" dirty="0"/>
              <a:t>The more the team uses </a:t>
            </a:r>
            <a:r>
              <a:rPr lang="en-US" dirty="0" err="1"/>
              <a:t>Collab</a:t>
            </a:r>
            <a:r>
              <a:rPr lang="en-US" dirty="0"/>
              <a:t> Mesh, the richer its project memory becomes. That creates a compounding advantage because the system understands decisions, patterns, and team behavior better over time, making it harder to replace.</a:t>
            </a:r>
          </a:p>
          <a:p>
            <a:r>
              <a:rPr lang="en-US" b="1" dirty="0"/>
              <a:t>2. Workflow lock-in moat:</a:t>
            </a:r>
            <a:br>
              <a:rPr lang="en-US" dirty="0"/>
            </a:br>
            <a:r>
              <a:rPr lang="en-US" dirty="0" err="1"/>
              <a:t>Collab</a:t>
            </a:r>
            <a:r>
              <a:rPr lang="en-US" dirty="0"/>
              <a:t> Mesh becomes the place where decisions, tasks, and updates live. Once a team relies on it for alignment and execution, switching to another tool becomes costly because the project history and context are already embedded in the system</a:t>
            </a:r>
          </a:p>
          <a:p>
            <a:endParaRPr lang="en-IN" dirty="0"/>
          </a:p>
        </p:txBody>
      </p:sp>
    </p:spTree>
    <p:extLst>
      <p:ext uri="{BB962C8B-B14F-4D97-AF65-F5344CB8AC3E}">
        <p14:creationId xmlns:p14="http://schemas.microsoft.com/office/powerpoint/2010/main" val="1746425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txBody>
          <a:bodyPr/>
          <a:lstStyle/>
          <a:p>
            <a:endParaRPr lang="en-IN"/>
          </a:p>
        </p:txBody>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 Link</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6251975" cy="1477328"/>
          </a:xfrm>
          <a:prstGeom prst="rect">
            <a:avLst/>
          </a:prstGeom>
          <a:noFill/>
        </p:spPr>
        <p:txBody>
          <a:bodyPr wrap="square" rtlCol="0">
            <a:spAutoFit/>
          </a:bodyPr>
          <a:lstStyle/>
          <a:p>
            <a:r>
              <a:rPr lang="en-IN" dirty="0"/>
              <a:t>GitHub Repo: </a:t>
            </a:r>
            <a:r>
              <a:rPr lang="en-IN" dirty="0">
                <a:hlinkClick r:id="rId3"/>
              </a:rPr>
              <a:t>https://github.com/sgpfhgg/Synapse</a:t>
            </a:r>
            <a:endParaRPr lang="en-IN" dirty="0"/>
          </a:p>
          <a:p>
            <a:br>
              <a:rPr lang="en-IN" dirty="0"/>
            </a:br>
            <a:r>
              <a:rPr lang="en-IN" dirty="0"/>
              <a:t>Demo Link: </a:t>
            </a:r>
            <a:r>
              <a:rPr lang="en-IN" dirty="0">
                <a:hlinkClick r:id="rId4"/>
              </a:rPr>
              <a:t>https://www.youtube.com/watch?v=ZD-X9JaGYrc</a:t>
            </a:r>
            <a:r>
              <a:rPr lang="en-IN" dirty="0"/>
              <a:t>.</a:t>
            </a:r>
          </a:p>
          <a:p>
            <a:br>
              <a:rPr lang="en-IN" dirty="0"/>
            </a:br>
            <a:endParaRPr lang="en-IN" dirty="0"/>
          </a:p>
        </p:txBody>
      </p:sp>
    </p:spTree>
    <p:extLst>
      <p:ext uri="{BB962C8B-B14F-4D97-AF65-F5344CB8AC3E}">
        <p14:creationId xmlns:p14="http://schemas.microsoft.com/office/powerpoint/2010/main" val="1098279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TotalTime>
  <Words>982</Words>
  <Application>Microsoft Office PowerPoint</Application>
  <PresentationFormat>Widescreen</PresentationFormat>
  <Paragraphs>121</Paragraphs>
  <Slides>9</Slides>
  <Notes>8</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Prakhar Chandrakar ./PRISM /SRI-Bangalore/Professional/Samsung Electronics</dc:creator>
  <cp:lastModifiedBy>sai prakash</cp:lastModifiedBy>
  <cp:revision>6</cp:revision>
  <dcterms:created xsi:type="dcterms:W3CDTF">2026-04-27T09:11:02Z</dcterms:created>
  <dcterms:modified xsi:type="dcterms:W3CDTF">2026-05-08T18:54:29Z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